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pia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051560"/>
            <a:ext cx="1554480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Kopia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CFE3F4"/>
                </a:solidFill>
                <a:latin typeface="Segoe UI"/>
              </a:rPr>
              <a:t>Copias de seguridad incrementales para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4160520"/>
            <a:ext cx="914400" cy="38100"/>
          </a:xfrm>
          <a:prstGeom prst="rect">
            <a:avLst/>
          </a:prstGeom>
          <a:solidFill>
            <a:srgbClr val="1F8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Proyecto de formación — SENA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419088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8F1FA"/>
                </a:solidFill>
                <a:latin typeface="Segoe UI"/>
              </a:rPr>
              <a:t>Análisis y Desarrollo de Software  · 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6FBD"/>
                </a:solidFill>
                <a:latin typeface="Segoe U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D26"/>
                </a:solidFill>
                <a:latin typeface="Segoe UI"/>
              </a:rPr>
              <a:t>¿Por qué un backup casero necesita una herramienta?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50800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800" b="1">
                <a:solidFill>
                  <a:srgbClr val="161D26"/>
                </a:solidFill>
                <a:latin typeface="Segoe UI"/>
              </a:rPr>
              <a:t>▪  La pérdida de información es uno de los riesgos más comunes en equipos personales: fallas de disco, robos, ransomware o errores humanos.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800" b="1">
                <a:solidFill>
                  <a:srgbClr val="161D26"/>
                </a:solidFill>
                <a:latin typeface="Segoe UI"/>
              </a:rPr>
              <a:t>▪  Copiar carpetas "a mano" a una USB es lento, propenso a errores y no distingue qué archivos cambiaron realmente.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800" b="1">
                <a:solidFill>
                  <a:srgbClr val="161D26"/>
                </a:solidFill>
                <a:latin typeface="Segoe UI"/>
              </a:rPr>
              <a:t>▪  Las soluciones en la nube dependen de conexión a internet, tienen límites de almacenamiento gratuito y implican ceder datos a terceros.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800" b="1">
                <a:solidFill>
                  <a:srgbClr val="161D26"/>
                </a:solidFill>
                <a:latin typeface="Segoe UI"/>
              </a:rPr>
              <a:t>▪  Kopia Desk nace como respuesta a esa necesidad: un backup local, incremental y gratuito hacia un disco externo o USB.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Kopia Desk — Proyecto de formación SENA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6FBD"/>
                </a:solidFill>
                <a:latin typeface="Segoe UI"/>
              </a:rPr>
              <a:t>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D26"/>
                </a:solidFill>
                <a:latin typeface="Segoe UI"/>
              </a:rPr>
              <a:t>¿Qué es Kopia Desk?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50800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161D26"/>
                </a:solidFill>
                <a:latin typeface="Segoe UI"/>
              </a:rPr>
              <a:t>Una aplicación de escritorio para Windows que respalda carpetas del usuario (Imágenes, Documentos, Descargas, etc.) hacia discos externos o USB, copiando únicamente lo que cambió desde el último backup.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2606040" cy="2651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2606040" cy="109728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6FBD"/>
                </a:solidFill>
                <a:latin typeface="Segoe UI"/>
              </a:rPr>
              <a:t>Incremental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4717F"/>
                </a:solidFill>
                <a:latin typeface="Segoe UI"/>
              </a:rPr>
              <a:t>Sólo copia archivos nuevos o modificados, comparando contra un manifiesto guardado.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246120"/>
            <a:ext cx="2606040" cy="2651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3246120"/>
            <a:ext cx="2606040" cy="109728"/>
          </a:xfrm>
          <a:prstGeom prst="rect">
            <a:avLst/>
          </a:prstGeom>
          <a:solidFill>
            <a:srgbClr val="1F8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5661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8A59"/>
                </a:solidFill>
                <a:latin typeface="Segoe UI"/>
              </a:rPr>
              <a:t>Local y gratuito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11480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4717F"/>
                </a:solidFill>
                <a:latin typeface="Segoe UI"/>
              </a:rPr>
              <a:t>No depende de internet ni de servicios en la nube de pago.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246120"/>
            <a:ext cx="2606040" cy="2651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246120"/>
            <a:ext cx="2606040" cy="109728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7791F"/>
                </a:solidFill>
                <a:latin typeface="Segoe UI"/>
              </a:rPr>
              <a:t>Con historial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4717F"/>
                </a:solidFill>
                <a:latin typeface="Segoe UI"/>
              </a:rPr>
              <a:t>Guarda versiones anteriores de los archivos que cambian.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246120"/>
            <a:ext cx="2606040" cy="2651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3246120"/>
            <a:ext cx="2606040" cy="109728"/>
          </a:xfrm>
          <a:prstGeom prst="rect">
            <a:avLst/>
          </a:prstGeom>
          <a:solidFill>
            <a:srgbClr val="B4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5661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4232B"/>
                </a:solidFill>
                <a:latin typeface="Segoe UI"/>
              </a:rPr>
              <a:t>Reversible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11480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4717F"/>
                </a:solidFill>
                <a:latin typeface="Segoe UI"/>
              </a:rPr>
              <a:t>Permite comparar y restaurar archivos desde el backup al equipo.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Kopia Desk — Proyecto de formación SENA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6FBD"/>
                </a:solidFill>
                <a:latin typeface="Segoe UI"/>
              </a:rPr>
              <a:t>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D26"/>
                </a:solidFill>
                <a:latin typeface="Segoe UI"/>
              </a:rPr>
              <a:t>Cómo funciona el flujo de backup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50800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2044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057399"/>
            <a:ext cx="502920" cy="502920"/>
          </a:xfrm>
          <a:prstGeom prst="ellipse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7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D26"/>
                </a:solidFill>
                <a:latin typeface="Segoe UI"/>
              </a:rPr>
              <a:t>Elegir origen y destino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41447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4717F"/>
                </a:solidFill>
                <a:latin typeface="Segoe UI"/>
              </a:rPr>
              <a:t>El usuario selecciona carpetas de origen (o usa los accesos rápidos) y un disco/USB destino.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352044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2057399"/>
            <a:ext cx="502920" cy="502920"/>
          </a:xfrm>
          <a:prstGeom prst="ellipse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01167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D26"/>
                </a:solidFill>
                <a:latin typeface="Segoe UI"/>
              </a:rPr>
              <a:t>Escaneo y comparación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441447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4717F"/>
                </a:solidFill>
                <a:latin typeface="Segoe UI"/>
              </a:rPr>
              <a:t>La app escanea las carpetas y compara contra el manifiesto del backup anterior.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74519"/>
            <a:ext cx="352044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057399"/>
            <a:ext cx="502920" cy="502920"/>
          </a:xfrm>
          <a:prstGeom prst="ellipse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1167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D26"/>
                </a:solidFill>
                <a:latin typeface="Segoe UI"/>
              </a:rPr>
              <a:t>Detección de cambios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441447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4717F"/>
                </a:solidFill>
                <a:latin typeface="Segoe UI"/>
              </a:rPr>
              <a:t>Se identifican archivos nuevos, cambiados y eliminados, agrupados por carpeta.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20439"/>
            <a:ext cx="352044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703319"/>
            <a:ext cx="502920" cy="502920"/>
          </a:xfrm>
          <a:prstGeom prst="ellipse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759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D26"/>
                </a:solidFill>
                <a:latin typeface="Segoe UI"/>
              </a:rPr>
              <a:t>Revisión del usuario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87367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4717F"/>
                </a:solidFill>
                <a:latin typeface="Segoe UI"/>
              </a:rPr>
              <a:t>El usuario acepta u omite cada categoría antes de copiar nada.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520439"/>
            <a:ext cx="352044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0" y="3703319"/>
            <a:ext cx="502920" cy="502920"/>
          </a:xfrm>
          <a:prstGeom prst="ellipse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65759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D26"/>
                </a:solidFill>
                <a:latin typeface="Segoe UI"/>
              </a:rPr>
              <a:t>Copia y verificación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087367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4717F"/>
                </a:solidFill>
                <a:latin typeface="Segoe UI"/>
              </a:rPr>
              <a:t>Se copian los archivos aceptados, con deduplicación y verificación de espacio.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520439"/>
            <a:ext cx="352044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0" y="3703319"/>
            <a:ext cx="502920" cy="502920"/>
          </a:xfrm>
          <a:prstGeom prst="ellipse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65759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D26"/>
                </a:solidFill>
                <a:latin typeface="Segoe UI"/>
              </a:rPr>
              <a:t>Manifiesto y registro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087367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4717F"/>
                </a:solidFill>
                <a:latin typeface="Segoe UI"/>
              </a:rPr>
              <a:t>Se actualiza el manifiesto y se guarda un registro (log) de la operación.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Kopia Desk — Proyecto de formación SENA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6FBD"/>
                </a:solidFill>
                <a:latin typeface="Segoe U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D26"/>
                </a:solidFill>
                <a:latin typeface="Segoe UI"/>
              </a:rPr>
              <a:t>Cómo está construida por dentro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50800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20440" cy="4160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520440" cy="128016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3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6FBD"/>
                </a:solidFill>
                <a:latin typeface="Consolas"/>
              </a:rPr>
              <a:t>main.js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5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717F"/>
                </a:solidFill>
                <a:latin typeface="Segoe UI"/>
              </a:rPr>
              <a:t>Proceso principal (Node.js)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19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161D26"/>
                </a:solidFill>
                <a:latin typeface="Segoe UI"/>
              </a:rPr>
              <a:t>▪  Acceso total al sistema: discos, archivos, procesos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161D26"/>
                </a:solidFill>
                <a:latin typeface="Segoe UI"/>
              </a:rPr>
              <a:t>▪  Escaneo, hashes, copia, deduplicación, journal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161D26"/>
                </a:solidFill>
                <a:latin typeface="Segoe UI"/>
              </a:rPr>
              <a:t>▪  Expone funciones al resto vía canales IPC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3680459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64717F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3520440" cy="4160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3520440" cy="128016"/>
          </a:xfrm>
          <a:prstGeom prst="rect">
            <a:avLst/>
          </a:prstGeom>
          <a:solidFill>
            <a:srgbClr val="1F8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4883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F8A59"/>
                </a:solidFill>
                <a:latin typeface="Consolas"/>
              </a:rPr>
              <a:t>preload.js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5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717F"/>
                </a:solidFill>
                <a:latin typeface="Segoe UI"/>
              </a:rPr>
              <a:t>Puente seguro (contextBridge)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46119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161D26"/>
                </a:solidFill>
                <a:latin typeface="Segoe UI"/>
              </a:rPr>
              <a:t>▪  Único punto de contacto entre interfaz y sistema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161D26"/>
                </a:solidFill>
                <a:latin typeface="Segoe UI"/>
              </a:rPr>
              <a:t>▪  Expone sólo funciones explícitas (window.kopiaAPI)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161D26"/>
                </a:solidFill>
                <a:latin typeface="Segoe UI"/>
              </a:rPr>
              <a:t>▪  La interfaz no toca Node.js directamente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3680459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64717F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74519"/>
            <a:ext cx="3520440" cy="4160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74519"/>
            <a:ext cx="3520440" cy="128016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14883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7791F"/>
                </a:solidFill>
                <a:latin typeface="Consolas"/>
              </a:rPr>
              <a:t>renderer/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5175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717F"/>
                </a:solidFill>
                <a:latin typeface="Segoe UI"/>
              </a:rPr>
              <a:t>Interfaz de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246119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161D26"/>
                </a:solidFill>
                <a:latin typeface="Segoe UI"/>
              </a:rPr>
              <a:t>▪  HTML + CSS + JS vanilla, sin frameworks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161D26"/>
                </a:solidFill>
                <a:latin typeface="Segoe UI"/>
              </a:rPr>
              <a:t>▪  Pestañas Backup / Comparar / Restaurar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161D26"/>
                </a:solidFill>
                <a:latin typeface="Segoe UI"/>
              </a:rPr>
              <a:t>▪  Sin acceso al sistema operativo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Kopia Desk — Proyecto de formación SENA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6FBD"/>
                </a:solidFill>
                <a:latin typeface="Segoe UI"/>
              </a:rPr>
              <a:t>FUNCIONALIDADES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D26"/>
                </a:solidFill>
                <a:latin typeface="Segoe UI"/>
              </a:rPr>
              <a:t>Lo que Kopia Desk hace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50800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1D26"/>
                </a:solidFill>
                <a:latin typeface="Segoe UI"/>
              </a:rPr>
              <a:t>▪  Selección de carpetas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64717F"/>
                </a:solidFill>
                <a:latin typeface="Segoe UI"/>
              </a:rPr>
              <a:t>   –  Diálogo nativo o accesos rápidos a Imágenes, Documentos, Descargas, Música, Videos y Escritorio.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1D26"/>
                </a:solidFill>
                <a:latin typeface="Segoe UI"/>
              </a:rPr>
              <a:t>▪  Detección de discos y USB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64717F"/>
                </a:solidFill>
                <a:latin typeface="Segoe UI"/>
              </a:rPr>
              <a:t>   –  Con espacio disponible, tipo de disco (SSD/HDD/USB) y ajuste automático de concurrencia.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1D26"/>
                </a:solidFill>
                <a:latin typeface="Segoe UI"/>
              </a:rPr>
              <a:t>▪  Backup incremental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64717F"/>
                </a:solidFill>
                <a:latin typeface="Segoe UI"/>
              </a:rPr>
              <a:t>   –  Comparación contra el último manifiesto usando hash rápido (cabecera + cola).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1D26"/>
                </a:solidFill>
                <a:latin typeface="Segoe UI"/>
              </a:rPr>
              <a:t>▪  Filtros de exclusión configurables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64717F"/>
                </a:solidFill>
                <a:latin typeface="Segoe UI"/>
              </a:rPr>
              <a:t>   –  Ignora por defecto Thumbs.db, desktop.ini, $RECYCLE.BIN, .git, node_modules, *.tmp,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288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1D26"/>
                </a:solidFill>
                <a:latin typeface="Segoe UI"/>
              </a:rPr>
              <a:t>▪  Deduplicación por contenido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64717F"/>
                </a:solidFill>
                <a:latin typeface="Segoe UI"/>
              </a:rPr>
              <a:t>   –  Si un archivo ya existe en el backup, se enlaza (hardlink) en vez de copiarse de nuevo.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1D26"/>
                </a:solidFill>
                <a:latin typeface="Segoe UI"/>
              </a:rPr>
              <a:t>▪  Historial de versiones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64717F"/>
                </a:solidFill>
                <a:latin typeface="Segoe UI"/>
              </a:rPr>
              <a:t>   –  Guarda versiones anteriores de archivos cambiados, comprimidas con gzip.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1D26"/>
                </a:solidFill>
                <a:latin typeface="Segoe UI"/>
              </a:rPr>
              <a:t>▪  Pestañas Comparar y Restaurar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64717F"/>
                </a:solidFill>
                <a:latin typeface="Segoe UI"/>
              </a:rPr>
              <a:t>   –  Detecta archivos faltantes y permite restaurar carpetas completas a cualquier ubicación.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1D26"/>
                </a:solidFill>
                <a:latin typeface="Segoe UI"/>
              </a:rPr>
              <a:t>▪  Journal de operaciones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64717F"/>
                </a:solidFill>
                <a:latin typeface="Segoe UI"/>
              </a:rPr>
              <a:t>   –  Detecta y limpia backups interrumpidos por corte de luz o desconexión del disco.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Kopia Desk — Proyecto de formación SENA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6FBD"/>
                </a:solidFill>
                <a:latin typeface="Segoe UI"/>
              </a:rP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D26"/>
                </a:solidFill>
                <a:latin typeface="Segoe UI"/>
              </a:rPr>
              <a:t>Cómo se protege la información y la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50800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161D26"/>
                </a:solidFill>
                <a:latin typeface="Segoe UI"/>
              </a:rPr>
              <a:t>▪  Aislamiento de contexto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0">
                <a:solidFill>
                  <a:srgbClr val="64717F"/>
                </a:solidFill>
                <a:latin typeface="Segoe UI"/>
              </a:rPr>
              <a:t>   –  contextIsolation activo y nodeIntegration desactivado: la interfaz nunca toca Node.js directamente.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161D26"/>
                </a:solidFill>
                <a:latin typeface="Segoe UI"/>
              </a:rPr>
              <a:t>▪  Protección contra path traversal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0">
                <a:solidFill>
                  <a:srgbClr val="64717F"/>
                </a:solidFill>
                <a:latin typeface="Segoe UI"/>
              </a:rPr>
              <a:t>   –  safePath() valida que cualquier escritura ocurra dentro del disco destino elegido.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161D26"/>
                </a:solidFill>
                <a:latin typeface="Segoe UI"/>
              </a:rPr>
              <a:t>▪  Validación de manifiestos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0">
                <a:solidFill>
                  <a:srgbClr val="64717F"/>
                </a:solidFill>
                <a:latin typeface="Segoe UI"/>
              </a:rPr>
              <a:t>   –  Se rechaza cualquier manifiesto que supere 50 MB, como protección ante corrupción de datos.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161D26"/>
                </a:solidFill>
                <a:latin typeface="Segoe UI"/>
              </a:rPr>
              <a:t>▪  Verificación de integridad opcional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0">
                <a:solidFill>
                  <a:srgbClr val="64717F"/>
                </a:solidFill>
                <a:latin typeface="Segoe UI"/>
              </a:rPr>
              <a:t>   –  Hash SHA-256 completo disponible para confirmar que el contenido copiado es idéntico al original.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161D26"/>
                </a:solidFill>
                <a:latin typeface="Segoe UI"/>
              </a:rPr>
              <a:t>▪  Metadatos ocultos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0">
                <a:solidFill>
                  <a:srgbClr val="64717F"/>
                </a:solidFill>
                <a:latin typeface="Segoe UI"/>
              </a:rPr>
              <a:t>   –  La carpeta .kopia-data se marca con atributos oculto + sistema, invisible para el usuario final.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Kopia Desk — Proyecto de formación SENA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59"/>
                </a:solidFill>
                <a:latin typeface="Segoe UI"/>
              </a:rPr>
              <a:t>BENEFICIOS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Ventajas de Kopia 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50800"/>
          </a:xfrm>
          <a:prstGeom prst="rect">
            <a:avLst/>
          </a:prstGeom>
          <a:solidFill>
            <a:srgbClr val="1F8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20440" cy="1920240"/>
          </a:xfrm>
          <a:prstGeom prst="rect">
            <a:avLst/>
          </a:prstGeom>
          <a:solidFill>
            <a:srgbClr val="112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39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8A59"/>
                </a:solidFill>
                <a:latin typeface="Segoe UI"/>
              </a:rPr>
              <a:t>Rápido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19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DE7F0"/>
                </a:solidFill>
                <a:latin typeface="Segoe UI"/>
              </a:rPr>
              <a:t>Sólo copia lo que cambió: los backups posteriores al primero tardan una fracción del tiempo.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74519"/>
            <a:ext cx="3520440" cy="1920240"/>
          </a:xfrm>
          <a:prstGeom prst="rect">
            <a:avLst/>
          </a:prstGeom>
          <a:solidFill>
            <a:srgbClr val="112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5739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8A59"/>
                </a:solidFill>
                <a:latin typeface="Segoe UI"/>
              </a:rPr>
              <a:t>Sin costo recurrente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60319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DE7F0"/>
                </a:solidFill>
                <a:latin typeface="Segoe UI"/>
              </a:rPr>
              <a:t>No depende de suscripciones ni servicios en la nube; corre 100% local.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74519"/>
            <a:ext cx="3520440" cy="1920240"/>
          </a:xfrm>
          <a:prstGeom prst="rect">
            <a:avLst/>
          </a:prstGeom>
          <a:solidFill>
            <a:srgbClr val="112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5739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8A59"/>
                </a:solidFill>
                <a:latin typeface="Segoe UI"/>
              </a:rPr>
              <a:t>Ahorra espacio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560319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DE7F0"/>
                </a:solidFill>
                <a:latin typeface="Segoe UI"/>
              </a:rPr>
              <a:t>La deduplicación por contenido evita copias repetidas del mismo archivo.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59"/>
            <a:ext cx="3520440" cy="1920240"/>
          </a:xfrm>
          <a:prstGeom prst="rect">
            <a:avLst/>
          </a:prstGeom>
          <a:solidFill>
            <a:srgbClr val="112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0623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8A59"/>
                </a:solidFill>
                <a:latin typeface="Segoe UI"/>
              </a:rPr>
              <a:t>Tolerante a fallas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59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DE7F0"/>
                </a:solidFill>
                <a:latin typeface="Segoe UI"/>
              </a:rPr>
              <a:t>El journal detecta backups interrumpidos y limpia lo que quedó a medias.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023359"/>
            <a:ext cx="3520440" cy="1920240"/>
          </a:xfrm>
          <a:prstGeom prst="rect">
            <a:avLst/>
          </a:prstGeom>
          <a:solidFill>
            <a:srgbClr val="112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20623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8A59"/>
                </a:solidFill>
                <a:latin typeface="Segoe UI"/>
              </a:rPr>
              <a:t>Pensado para recuperar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709159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DE7F0"/>
                </a:solidFill>
                <a:latin typeface="Segoe UI"/>
              </a:rPr>
              <a:t>La pestaña Restaurar funciona incluso si el PC original ya no existe.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4023359"/>
            <a:ext cx="3520440" cy="1920240"/>
          </a:xfrm>
          <a:prstGeom prst="rect">
            <a:avLst/>
          </a:prstGeom>
          <a:solidFill>
            <a:srgbClr val="112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20623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8A59"/>
                </a:solidFill>
                <a:latin typeface="Segoe UI"/>
              </a:rPr>
              <a:t>Interfaz simple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709159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DE7F0"/>
                </a:solidFill>
                <a:latin typeface="Segoe UI"/>
              </a:rPr>
              <a:t>Tema claro/oscuro, accesos rápidos y flujo guiado paso a paso.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B4CB"/>
                </a:solidFill>
                <a:latin typeface="Segoe UI"/>
              </a:rPr>
              <a:t>Kopia Desk — Proyecto de formación SENA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B4C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4232B"/>
                </a:solidFill>
                <a:latin typeface="Segoe UI"/>
              </a:rP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D26"/>
                </a:solidFill>
                <a:latin typeface="Segoe UI"/>
              </a:rPr>
              <a:t>Lo que quedó fuera de esta versión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50800"/>
          </a:xfrm>
          <a:prstGeom prst="rect">
            <a:avLst/>
          </a:prstGeom>
          <a:solidFill>
            <a:srgbClr val="B4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161D26"/>
                </a:solidFill>
                <a:latin typeface="Segoe UI"/>
              </a:rPr>
              <a:t>▪  Cifrado propio de archivos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0">
                <a:solidFill>
                  <a:srgbClr val="64717F"/>
                </a:solidFill>
                <a:latin typeface="Segoe UI"/>
              </a:rPr>
              <a:t>   –  Se probó cifrado AES-256-GCM por archivo, pero se descartó: no aportaba suficiente frente a cifrar el disco USB completo con BitLocker u otra herramienta a nivel de disco. Queda como mejora futura si se retoma con ese enfoque.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161D26"/>
                </a:solidFill>
                <a:latin typeface="Segoe UI"/>
              </a:rPr>
              <a:t>▪  Backups automáticos o programados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0">
                <a:solidFill>
                  <a:srgbClr val="64717F"/>
                </a:solidFill>
                <a:latin typeface="Segoe UI"/>
              </a:rPr>
              <a:t>   –  Hoy el backup se ejecuta siempre de forma manual; no hay un programador de tareas ni backups en segundo plano.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161D26"/>
                </a:solidFill>
                <a:latin typeface="Segoe UI"/>
              </a:rPr>
              <a:t>▪  Sincronización o respaldo en la nube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0">
                <a:solidFill>
                  <a:srgbClr val="64717F"/>
                </a:solidFill>
                <a:latin typeface="Segoe UI"/>
              </a:rPr>
              <a:t>   –  El alcance del proyecto se limitó a discos externos y USB conectados localmente, sin integración con servicios remotos.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161D26"/>
                </a:solidFill>
                <a:latin typeface="Segoe UI"/>
              </a:rPr>
              <a:t>▪  Sólo Windows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0">
                <a:solidFill>
                  <a:srgbClr val="64717F"/>
                </a:solidFill>
                <a:latin typeface="Segoe UI"/>
              </a:rPr>
              <a:t>   –  La detección de discos usa PowerShell (Get-Volume) y atributos de NTFS, por lo que no es portable a macOS/Linux sin adaptar esa capa.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50" b="1">
                <a:solidFill>
                  <a:srgbClr val="161D26"/>
                </a:solidFill>
                <a:latin typeface="Segoe UI"/>
              </a:rPr>
              <a:t>▪  Notificaciones del sistema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0">
                <a:solidFill>
                  <a:srgbClr val="64717F"/>
                </a:solidFill>
                <a:latin typeface="Segoe UI"/>
              </a:rPr>
              <a:t>   –  No hay avisos nativos de Windows al terminar un backup; el estado sólo se ve dentro de la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Kopia Desk — Proyecto de formación SENA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6FBD"/>
                </a:solidFill>
                <a:latin typeface="Segoe UI"/>
              </a:rPr>
              <a:t>TECNOLOGÍA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D26"/>
                </a:solidFill>
                <a:latin typeface="Segoe UI"/>
              </a:rPr>
              <a:t>Stack tecnológico utilizado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50800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606040" cy="3017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09728" cy="3017520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F6FBD"/>
                </a:solidFill>
                <a:latin typeface="Segoe UI"/>
              </a:rPr>
              <a:t>Electron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148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17F"/>
                </a:solidFill>
                <a:latin typeface="Segoe UI"/>
              </a:rPr>
              <a:t>Framework de escritorio: combina un proceso Node.js con una ventana Chromium.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920240"/>
            <a:ext cx="2606040" cy="3017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109728" cy="3017520"/>
          </a:xfrm>
          <a:prstGeom prst="rect">
            <a:avLst/>
          </a:prstGeom>
          <a:solidFill>
            <a:srgbClr val="1F8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1945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F8A59"/>
                </a:solidFill>
                <a:latin typeface="Segoe UI"/>
              </a:rPr>
              <a:t>Node.js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154680"/>
            <a:ext cx="2148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17F"/>
                </a:solidFill>
                <a:latin typeface="Segoe UI"/>
              </a:rPr>
              <a:t>fs, crypto y child_process para archivos, hashes y comandos del sistema.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2606040" cy="3017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109728" cy="301752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B7791F"/>
                </a:solidFill>
                <a:latin typeface="Segoe UI"/>
              </a:rPr>
              <a:t>HTML / CSS / JS vanilla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54680"/>
            <a:ext cx="2148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17F"/>
                </a:solidFill>
                <a:latin typeface="Segoe UI"/>
              </a:rPr>
              <a:t>Interfaz sin frameworks externos, con variables CSS para temas claro/oscuro.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920240"/>
            <a:ext cx="2606040" cy="3017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920240"/>
            <a:ext cx="109728" cy="3017520"/>
          </a:xfrm>
          <a:prstGeom prst="rect">
            <a:avLst/>
          </a:prstGeom>
          <a:solidFill>
            <a:srgbClr val="B4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1945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B4232B"/>
                </a:solidFill>
                <a:latin typeface="Segoe UI"/>
              </a:rPr>
              <a:t>electron-builder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154680"/>
            <a:ext cx="2148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17F"/>
                </a:solidFill>
                <a:latin typeface="Segoe UI"/>
              </a:rPr>
              <a:t>Empaqueta la app como instalador NSIS para Windows (npm run build).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61D26"/>
                </a:solidFill>
                <a:latin typeface="Consolas"/>
              </a:rPr>
              <a:t>npm install     →  instala dependencias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61D26"/>
                </a:solidFill>
                <a:latin typeface="Consolas"/>
              </a:rPr>
              <a:t>npm start       →  ejecuta la app en modo desarrollo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61D26"/>
                </a:solidFill>
                <a:latin typeface="Consolas"/>
              </a:rPr>
              <a:t>npm run build   →  genera el instalador para 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Kopia Desk — Proyecto de formación SENA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6FBD"/>
                </a:solidFill>
                <a:latin typeface="Segoe UI"/>
              </a:rPr>
              <a:t>HACIA ADELANTE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D26"/>
                </a:solidFill>
                <a:latin typeface="Segoe UI"/>
              </a:rPr>
              <a:t>Posibles mejoras futuras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1005840" cy="50800"/>
          </a:xfrm>
          <a:prstGeom prst="rect">
            <a:avLst/>
          </a:prstGeom>
          <a:solidFill>
            <a:srgbClr val="0F6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800" b="1">
                <a:solidFill>
                  <a:srgbClr val="161D26"/>
                </a:solidFill>
                <a:latin typeface="Segoe UI"/>
              </a:rPr>
              <a:t>▪  Programación automática de backups (por horario o al conectar el disco).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800" b="1">
                <a:solidFill>
                  <a:srgbClr val="161D26"/>
                </a:solidFill>
                <a:latin typeface="Segoe UI"/>
              </a:rPr>
              <a:t>▪  Cifrado a nivel de disco integrado en el flujo (en vez de cifrado por archivo).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800" b="1">
                <a:solidFill>
                  <a:srgbClr val="161D26"/>
                </a:solidFill>
                <a:latin typeface="Segoe UI"/>
              </a:rPr>
              <a:t>▪  Soporte multiplataforma (macOS/Linux), reemplazando la detección de discos vía PowerShell.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800" b="1">
                <a:solidFill>
                  <a:srgbClr val="161D26"/>
                </a:solidFill>
                <a:latin typeface="Segoe UI"/>
              </a:rPr>
              <a:t>▪  Notificaciones nativas del sistema al finalizar o fallar un backup.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800" b="1">
                <a:solidFill>
                  <a:srgbClr val="161D26"/>
                </a:solidFill>
                <a:latin typeface="Segoe UI"/>
              </a:rPr>
              <a:t>▪  Respaldo remoto opcional (servidor propio o proveedor en la nube) como complemento del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Kopia Desk — Proyecto de formación SENA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17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F8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pia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37160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CFE3F4"/>
                </a:solidFill>
                <a:latin typeface="Segoe UI"/>
              </a:rPr>
              <a:t>¿Preguntas sobre Kopia Desk?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